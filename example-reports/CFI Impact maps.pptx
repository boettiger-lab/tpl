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
  </p:notesMasterIdLst>
  <p:sldIdLst>
    <p:sldId id="256" r:id="rId2"/>
    <p:sldId id="264" r:id="rId3"/>
    <p:sldId id="265" r:id="rId4"/>
    <p:sldId id="266" r:id="rId5"/>
  </p:sldIdLst>
  <p:sldSz cx="9144000" cy="5143500" type="screen16x9"/>
  <p:notesSz cx="6858000" cy="9144000"/>
  <p:embeddedFontLst>
    <p:embeddedFont>
      <p:font typeface="Poppins" panose="00000500000000000000" pitchFamily="2" charset="0"/>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ndy Muzzy" userId="36e44409-8025-4d1a-9e82-7d9fb5749769" providerId="ADAL" clId="{B561BE32-C9BA-47E2-8BAA-5CF55E6C4107}"/>
    <pc:docChg chg="delSld">
      <pc:chgData name="Wendy Muzzy" userId="36e44409-8025-4d1a-9e82-7d9fb5749769" providerId="ADAL" clId="{B561BE32-C9BA-47E2-8BAA-5CF55E6C4107}" dt="2025-11-21T19:39:22.292" v="12" actId="2696"/>
      <pc:docMkLst>
        <pc:docMk/>
      </pc:docMkLst>
      <pc:sldChg chg="del">
        <pc:chgData name="Wendy Muzzy" userId="36e44409-8025-4d1a-9e82-7d9fb5749769" providerId="ADAL" clId="{B561BE32-C9BA-47E2-8BAA-5CF55E6C4107}" dt="2025-11-21T19:38:52.242" v="0" actId="2696"/>
        <pc:sldMkLst>
          <pc:docMk/>
          <pc:sldMk cId="0" sldId="257"/>
        </pc:sldMkLst>
      </pc:sldChg>
      <pc:sldChg chg="del">
        <pc:chgData name="Wendy Muzzy" userId="36e44409-8025-4d1a-9e82-7d9fb5749769" providerId="ADAL" clId="{B561BE32-C9BA-47E2-8BAA-5CF55E6C4107}" dt="2025-11-21T19:38:53.458" v="1" actId="2696"/>
        <pc:sldMkLst>
          <pc:docMk/>
          <pc:sldMk cId="0" sldId="258"/>
        </pc:sldMkLst>
      </pc:sldChg>
      <pc:sldChg chg="del">
        <pc:chgData name="Wendy Muzzy" userId="36e44409-8025-4d1a-9e82-7d9fb5749769" providerId="ADAL" clId="{B561BE32-C9BA-47E2-8BAA-5CF55E6C4107}" dt="2025-11-21T19:38:54.417" v="2" actId="2696"/>
        <pc:sldMkLst>
          <pc:docMk/>
          <pc:sldMk cId="0" sldId="259"/>
        </pc:sldMkLst>
      </pc:sldChg>
      <pc:sldChg chg="del">
        <pc:chgData name="Wendy Muzzy" userId="36e44409-8025-4d1a-9e82-7d9fb5749769" providerId="ADAL" clId="{B561BE32-C9BA-47E2-8BAA-5CF55E6C4107}" dt="2025-11-21T19:38:55.225" v="3" actId="2696"/>
        <pc:sldMkLst>
          <pc:docMk/>
          <pc:sldMk cId="0" sldId="260"/>
        </pc:sldMkLst>
      </pc:sldChg>
      <pc:sldChg chg="del">
        <pc:chgData name="Wendy Muzzy" userId="36e44409-8025-4d1a-9e82-7d9fb5749769" providerId="ADAL" clId="{B561BE32-C9BA-47E2-8BAA-5CF55E6C4107}" dt="2025-11-21T19:38:55.992" v="4" actId="2696"/>
        <pc:sldMkLst>
          <pc:docMk/>
          <pc:sldMk cId="0" sldId="261"/>
        </pc:sldMkLst>
      </pc:sldChg>
      <pc:sldChg chg="del">
        <pc:chgData name="Wendy Muzzy" userId="36e44409-8025-4d1a-9e82-7d9fb5749769" providerId="ADAL" clId="{B561BE32-C9BA-47E2-8BAA-5CF55E6C4107}" dt="2025-11-21T19:38:57.108" v="5" actId="2696"/>
        <pc:sldMkLst>
          <pc:docMk/>
          <pc:sldMk cId="0" sldId="262"/>
        </pc:sldMkLst>
      </pc:sldChg>
      <pc:sldChg chg="del">
        <pc:chgData name="Wendy Muzzy" userId="36e44409-8025-4d1a-9e82-7d9fb5749769" providerId="ADAL" clId="{B561BE32-C9BA-47E2-8BAA-5CF55E6C4107}" dt="2025-11-21T19:39:02.259" v="6" actId="2696"/>
        <pc:sldMkLst>
          <pc:docMk/>
          <pc:sldMk cId="0" sldId="263"/>
        </pc:sldMkLst>
      </pc:sldChg>
      <pc:sldChg chg="del">
        <pc:chgData name="Wendy Muzzy" userId="36e44409-8025-4d1a-9e82-7d9fb5749769" providerId="ADAL" clId="{B561BE32-C9BA-47E2-8BAA-5CF55E6C4107}" dt="2025-11-21T19:39:14.359" v="7" actId="2696"/>
        <pc:sldMkLst>
          <pc:docMk/>
          <pc:sldMk cId="0" sldId="267"/>
        </pc:sldMkLst>
      </pc:sldChg>
      <pc:sldChg chg="del">
        <pc:chgData name="Wendy Muzzy" userId="36e44409-8025-4d1a-9e82-7d9fb5749769" providerId="ADAL" clId="{B561BE32-C9BA-47E2-8BAA-5CF55E6C4107}" dt="2025-11-21T19:39:15.109" v="8" actId="2696"/>
        <pc:sldMkLst>
          <pc:docMk/>
          <pc:sldMk cId="0" sldId="268"/>
        </pc:sldMkLst>
      </pc:sldChg>
      <pc:sldChg chg="del">
        <pc:chgData name="Wendy Muzzy" userId="36e44409-8025-4d1a-9e82-7d9fb5749769" providerId="ADAL" clId="{B561BE32-C9BA-47E2-8BAA-5CF55E6C4107}" dt="2025-11-21T19:39:15.877" v="9" actId="2696"/>
        <pc:sldMkLst>
          <pc:docMk/>
          <pc:sldMk cId="0" sldId="269"/>
        </pc:sldMkLst>
      </pc:sldChg>
      <pc:sldChg chg="del">
        <pc:chgData name="Wendy Muzzy" userId="36e44409-8025-4d1a-9e82-7d9fb5749769" providerId="ADAL" clId="{B561BE32-C9BA-47E2-8BAA-5CF55E6C4107}" dt="2025-11-21T19:39:17.924" v="10" actId="2696"/>
        <pc:sldMkLst>
          <pc:docMk/>
          <pc:sldMk cId="0" sldId="270"/>
        </pc:sldMkLst>
      </pc:sldChg>
      <pc:sldChg chg="del">
        <pc:chgData name="Wendy Muzzy" userId="36e44409-8025-4d1a-9e82-7d9fb5749769" providerId="ADAL" clId="{B561BE32-C9BA-47E2-8BAA-5CF55E6C4107}" dt="2025-11-21T19:39:20.192" v="11" actId="2696"/>
        <pc:sldMkLst>
          <pc:docMk/>
          <pc:sldMk cId="0" sldId="271"/>
        </pc:sldMkLst>
      </pc:sldChg>
      <pc:sldChg chg="del">
        <pc:chgData name="Wendy Muzzy" userId="36e44409-8025-4d1a-9e82-7d9fb5749769" providerId="ADAL" clId="{B561BE32-C9BA-47E2-8BAA-5CF55E6C4107}" dt="2025-11-21T19:39:22.292" v="12" actId="2696"/>
        <pc:sldMkLst>
          <pc:docMk/>
          <pc:sldMk cId="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74243cf107_1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74243cf107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74243cf107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74243cf107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74243cf107_1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74243cf107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8969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b="1" dirty="0">
                <a:latin typeface="Poppins"/>
                <a:ea typeface="Poppins"/>
                <a:cs typeface="Poppins"/>
                <a:sym typeface="Poppins"/>
              </a:rPr>
              <a:t>Conservation Finance Initiative</a:t>
            </a:r>
            <a:endParaRPr b="1" dirty="0">
              <a:latin typeface="Poppins"/>
              <a:ea typeface="Poppins"/>
              <a:cs typeface="Poppins"/>
              <a:sym typeface="Poppins"/>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700" b="1" dirty="0">
                <a:solidFill>
                  <a:schemeClr val="dk1"/>
                </a:solidFill>
                <a:latin typeface="Poppins"/>
                <a:ea typeface="Poppins"/>
                <a:cs typeface="Poppins"/>
                <a:sym typeface="Poppins"/>
              </a:rPr>
              <a:t>Ten-Year Impact Review (2014-2024)</a:t>
            </a:r>
            <a:endParaRPr sz="2700" b="1" dirty="0">
              <a:solidFill>
                <a:schemeClr val="dk1"/>
              </a:solidFill>
              <a:latin typeface="Poppins"/>
              <a:ea typeface="Poppins"/>
              <a:cs typeface="Poppins"/>
              <a:sym typeface="Poppins"/>
            </a:endParaRPr>
          </a:p>
        </p:txBody>
      </p:sp>
      <p:pic>
        <p:nvPicPr>
          <p:cNvPr id="56" name="Google Shape;56;p13" title="Screenshot 2025-08-07 at 4.30.04 PM.png"/>
          <p:cNvPicPr preferRelativeResize="0"/>
          <p:nvPr/>
        </p:nvPicPr>
        <p:blipFill>
          <a:blip r:embed="rId3">
            <a:alphaModFix/>
          </a:blip>
          <a:stretch>
            <a:fillRect/>
          </a:stretch>
        </p:blipFill>
        <p:spPr>
          <a:xfrm>
            <a:off x="364918" y="4138275"/>
            <a:ext cx="2158581" cy="871550"/>
          </a:xfrm>
          <a:prstGeom prst="rect">
            <a:avLst/>
          </a:prstGeom>
          <a:noFill/>
          <a:ln>
            <a:noFill/>
          </a:ln>
        </p:spPr>
      </p:pic>
      <p:pic>
        <p:nvPicPr>
          <p:cNvPr id="57" name="Google Shape;57;p13" title="Screenshot 2025-08-07 at 4.31.05 PM.png"/>
          <p:cNvPicPr preferRelativeResize="0"/>
          <p:nvPr/>
        </p:nvPicPr>
        <p:blipFill>
          <a:blip r:embed="rId4">
            <a:alphaModFix/>
          </a:blip>
          <a:stretch>
            <a:fillRect/>
          </a:stretch>
        </p:blipFill>
        <p:spPr>
          <a:xfrm>
            <a:off x="6651400" y="4085779"/>
            <a:ext cx="2418575" cy="871558"/>
          </a:xfrm>
          <a:prstGeom prst="rect">
            <a:avLst/>
          </a:prstGeom>
          <a:noFill/>
          <a:ln>
            <a:noFill/>
          </a:ln>
        </p:spPr>
      </p:pic>
      <p:sp>
        <p:nvSpPr>
          <p:cNvPr id="58" name="Google Shape;58;p13"/>
          <p:cNvSpPr txBox="1">
            <a:spLocks noGrp="1"/>
          </p:cNvSpPr>
          <p:nvPr>
            <p:ph type="subTitle" idx="1"/>
          </p:nvPr>
        </p:nvSpPr>
        <p:spPr>
          <a:xfrm>
            <a:off x="2690550" y="4231750"/>
            <a:ext cx="3793800" cy="884400"/>
          </a:xfrm>
          <a:prstGeom prst="rect">
            <a:avLst/>
          </a:prstGeom>
        </p:spPr>
        <p:txBody>
          <a:bodyPr spcFirstLastPara="1" wrap="square" lIns="91425" tIns="91425" rIns="91425" bIns="91425" anchor="t" anchorCtr="0">
            <a:normAutofit/>
          </a:bodyPr>
          <a:lstStyle/>
          <a:p>
            <a:pPr marL="0" lvl="0" indent="0" algn="ctr" rtl="0">
              <a:lnSpc>
                <a:spcPct val="80000"/>
              </a:lnSpc>
              <a:spcBef>
                <a:spcPts val="0"/>
              </a:spcBef>
              <a:spcAft>
                <a:spcPts val="0"/>
              </a:spcAft>
              <a:buSzPts val="1018"/>
              <a:buNone/>
            </a:pPr>
            <a:r>
              <a:rPr lang="en" sz="1297">
                <a:solidFill>
                  <a:srgbClr val="38761D"/>
                </a:solidFill>
                <a:latin typeface="Poppins"/>
                <a:ea typeface="Poppins"/>
                <a:cs typeface="Poppins"/>
                <a:sym typeface="Poppins"/>
              </a:rPr>
              <a:t>Prepared by Elizabeth Adams</a:t>
            </a:r>
            <a:endParaRPr sz="1297">
              <a:solidFill>
                <a:srgbClr val="38761D"/>
              </a:solidFill>
              <a:latin typeface="Poppins"/>
              <a:ea typeface="Poppins"/>
              <a:cs typeface="Poppins"/>
              <a:sym typeface="Poppins"/>
            </a:endParaRPr>
          </a:p>
          <a:p>
            <a:pPr marL="0" lvl="0" indent="0" algn="ctr" rtl="0">
              <a:lnSpc>
                <a:spcPct val="80000"/>
              </a:lnSpc>
              <a:spcBef>
                <a:spcPts val="0"/>
              </a:spcBef>
              <a:spcAft>
                <a:spcPts val="0"/>
              </a:spcAft>
              <a:buSzPts val="1018"/>
              <a:buNone/>
            </a:pPr>
            <a:r>
              <a:rPr lang="en" sz="1297">
                <a:solidFill>
                  <a:srgbClr val="38761D"/>
                </a:solidFill>
                <a:latin typeface="Poppins"/>
                <a:ea typeface="Poppins"/>
                <a:cs typeface="Poppins"/>
                <a:sym typeface="Poppins"/>
              </a:rPr>
              <a:t>August, 2025</a:t>
            </a:r>
            <a:endParaRPr sz="1297">
              <a:solidFill>
                <a:srgbClr val="38761D"/>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150750" y="1231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8761D"/>
                </a:solidFill>
                <a:latin typeface="Poppins"/>
                <a:ea typeface="Poppins"/>
                <a:cs typeface="Poppins"/>
                <a:sym typeface="Poppins"/>
              </a:rPr>
              <a:t>Conservation Wins Across the Political Spectrum</a:t>
            </a:r>
            <a:endParaRPr/>
          </a:p>
        </p:txBody>
      </p:sp>
      <p:sp>
        <p:nvSpPr>
          <p:cNvPr id="119" name="Google Shape;119;p21"/>
          <p:cNvSpPr txBox="1"/>
          <p:nvPr/>
        </p:nvSpPr>
        <p:spPr>
          <a:xfrm>
            <a:off x="299375" y="613475"/>
            <a:ext cx="7907700" cy="692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1200"/>
              </a:spcAft>
              <a:buNone/>
            </a:pPr>
            <a:r>
              <a:rPr lang="en" sz="1100" i="1">
                <a:solidFill>
                  <a:schemeClr val="dk1"/>
                </a:solidFill>
              </a:rPr>
              <a:t>The following map demonstrates bipartisan support for land conservation and the team’s success in working with different types of communities throughout the country. The more Democratic-leaning cities and counties within red states are particularly fertile ground, but they are far from the only places where conservation funding measures succeeded.</a:t>
            </a:r>
            <a:endParaRPr i="1"/>
          </a:p>
        </p:txBody>
      </p:sp>
      <p:pic>
        <p:nvPicPr>
          <p:cNvPr id="120" name="Google Shape;120;p21"/>
          <p:cNvPicPr preferRelativeResize="0"/>
          <p:nvPr/>
        </p:nvPicPr>
        <p:blipFill>
          <a:blip r:embed="rId3">
            <a:alphaModFix/>
          </a:blip>
          <a:stretch>
            <a:fillRect/>
          </a:stretch>
        </p:blipFill>
        <p:spPr>
          <a:xfrm>
            <a:off x="412100" y="1296350"/>
            <a:ext cx="4540899" cy="3456625"/>
          </a:xfrm>
          <a:prstGeom prst="rect">
            <a:avLst/>
          </a:prstGeom>
          <a:noFill/>
          <a:ln>
            <a:noFill/>
          </a:ln>
        </p:spPr>
      </p:pic>
      <p:sp>
        <p:nvSpPr>
          <p:cNvPr id="121" name="Google Shape;121;p21"/>
          <p:cNvSpPr txBox="1"/>
          <p:nvPr/>
        </p:nvSpPr>
        <p:spPr>
          <a:xfrm>
            <a:off x="5541525" y="1721675"/>
            <a:ext cx="2840400" cy="3031200"/>
          </a:xfrm>
          <a:prstGeom prst="rect">
            <a:avLst/>
          </a:prstGeom>
          <a:noFill/>
          <a:ln w="28575" cap="flat" cmpd="sng">
            <a:solidFill>
              <a:srgbClr val="38761D"/>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1100" b="1">
                <a:solidFill>
                  <a:schemeClr val="dk2"/>
                </a:solidFill>
                <a:latin typeface="Poppins"/>
                <a:ea typeface="Poppins"/>
                <a:cs typeface="Poppins"/>
                <a:sym typeface="Poppins"/>
              </a:rPr>
              <a:t>Georgia’s Blueprint for Bipartisan Conservation</a:t>
            </a:r>
            <a:endParaRPr sz="1100" b="1">
              <a:solidFill>
                <a:schemeClr val="dk2"/>
              </a:solidFill>
              <a:latin typeface="Poppins"/>
              <a:ea typeface="Poppins"/>
              <a:cs typeface="Poppins"/>
              <a:sym typeface="Poppins"/>
            </a:endParaRPr>
          </a:p>
          <a:p>
            <a:pPr marL="0" lvl="0" indent="0" algn="l" rtl="0">
              <a:lnSpc>
                <a:spcPct val="100000"/>
              </a:lnSpc>
              <a:spcBef>
                <a:spcPts val="1200"/>
              </a:spcBef>
              <a:spcAft>
                <a:spcPts val="0"/>
              </a:spcAft>
              <a:buNone/>
            </a:pPr>
            <a:r>
              <a:rPr lang="en" sz="1100">
                <a:solidFill>
                  <a:schemeClr val="dk2"/>
                </a:solidFill>
                <a:latin typeface="Poppins"/>
                <a:ea typeface="Poppins"/>
                <a:cs typeface="Poppins"/>
                <a:sym typeface="Poppins"/>
              </a:rPr>
              <a:t>Georgia’s Outdoor Stewardship Trust Fund, which was overwhelmingly approved by voters with 83% support, raises approximately $20 million per year for conservation, is an example of bipartisan support for conservation in a red state. </a:t>
            </a:r>
            <a:endParaRPr sz="1100">
              <a:solidFill>
                <a:schemeClr val="dk2"/>
              </a:solidFill>
              <a:latin typeface="Poppins"/>
              <a:ea typeface="Poppins"/>
              <a:cs typeface="Poppins"/>
              <a:sym typeface="Poppins"/>
            </a:endParaRPr>
          </a:p>
          <a:p>
            <a:pPr marL="0" lvl="0" indent="0" algn="l" rtl="0">
              <a:lnSpc>
                <a:spcPct val="100000"/>
              </a:lnSpc>
              <a:spcBef>
                <a:spcPts val="1200"/>
              </a:spcBef>
              <a:spcAft>
                <a:spcPts val="1200"/>
              </a:spcAft>
              <a:buClr>
                <a:schemeClr val="dk1"/>
              </a:buClr>
              <a:buSzPts val="1100"/>
              <a:buFont typeface="Arial"/>
              <a:buNone/>
            </a:pPr>
            <a:r>
              <a:rPr lang="en" sz="1100">
                <a:solidFill>
                  <a:schemeClr val="dk2"/>
                </a:solidFill>
                <a:latin typeface="Poppins"/>
                <a:ea typeface="Poppins"/>
                <a:cs typeface="Poppins"/>
                <a:sym typeface="Poppins"/>
              </a:rPr>
              <a:t>It provides a potential blueprint for other states, and similar measures are being considered in Massachusetts (where legislation has been filed), Illinois, Arizona, Colorado and Kentucky. </a:t>
            </a:r>
            <a:endParaRPr sz="1100">
              <a:solidFill>
                <a:schemeClr val="dk2"/>
              </a:solidFill>
              <a:latin typeface="Poppins"/>
              <a:ea typeface="Poppins"/>
              <a:cs typeface="Poppins"/>
              <a:sym typeface="Poppins"/>
            </a:endParaRPr>
          </a:p>
        </p:txBody>
      </p:sp>
      <p:cxnSp>
        <p:nvCxnSpPr>
          <p:cNvPr id="122" name="Google Shape;122;p21"/>
          <p:cNvCxnSpPr/>
          <p:nvPr/>
        </p:nvCxnSpPr>
        <p:spPr>
          <a:xfrm rot="10800000" flipH="1">
            <a:off x="3988825" y="2541775"/>
            <a:ext cx="1483500" cy="8538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en" b="1">
                <a:solidFill>
                  <a:srgbClr val="38761D"/>
                </a:solidFill>
                <a:latin typeface="Poppins"/>
                <a:ea typeface="Poppins"/>
                <a:cs typeface="Poppins"/>
                <a:sym typeface="Poppins"/>
              </a:rPr>
              <a:t>Reaching Disadvantaged Communities</a:t>
            </a:r>
            <a:endParaRPr b="1">
              <a:solidFill>
                <a:srgbClr val="38761D"/>
              </a:solidFill>
              <a:latin typeface="Poppins"/>
              <a:ea typeface="Poppins"/>
              <a:cs typeface="Poppins"/>
              <a:sym typeface="Poppins"/>
            </a:endParaRPr>
          </a:p>
        </p:txBody>
      </p:sp>
      <p:pic>
        <p:nvPicPr>
          <p:cNvPr id="128" name="Google Shape;128;p22"/>
          <p:cNvPicPr preferRelativeResize="0"/>
          <p:nvPr/>
        </p:nvPicPr>
        <p:blipFill>
          <a:blip r:embed="rId3">
            <a:alphaModFix/>
          </a:blip>
          <a:stretch>
            <a:fillRect/>
          </a:stretch>
        </p:blipFill>
        <p:spPr>
          <a:xfrm>
            <a:off x="311700" y="1436075"/>
            <a:ext cx="4699725" cy="3648150"/>
          </a:xfrm>
          <a:prstGeom prst="rect">
            <a:avLst/>
          </a:prstGeom>
          <a:noFill/>
          <a:ln>
            <a:noFill/>
          </a:ln>
        </p:spPr>
      </p:pic>
      <p:sp>
        <p:nvSpPr>
          <p:cNvPr id="129" name="Google Shape;129;p22"/>
          <p:cNvSpPr txBox="1"/>
          <p:nvPr/>
        </p:nvSpPr>
        <p:spPr>
          <a:xfrm>
            <a:off x="308250" y="621250"/>
            <a:ext cx="8679900" cy="861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i="1">
                <a:solidFill>
                  <a:schemeClr val="dk1"/>
                </a:solidFill>
              </a:rPr>
              <a:t>CFI has been more deliberate about building more diverse coalitions and intentionally focusing on creating more conservation funding directed toward under-resourced populations. The map below demonstrates that during the 10-year study period, the team has worked on measures that benefit under-resourced populations - especially statewide measures in places with some of most disadvantaged populations in the U.S.*</a:t>
            </a:r>
            <a:endParaRPr i="1"/>
          </a:p>
        </p:txBody>
      </p:sp>
      <p:sp>
        <p:nvSpPr>
          <p:cNvPr id="130" name="Google Shape;130;p22"/>
          <p:cNvSpPr txBox="1"/>
          <p:nvPr/>
        </p:nvSpPr>
        <p:spPr>
          <a:xfrm>
            <a:off x="5444425" y="1882450"/>
            <a:ext cx="3275100" cy="2325000"/>
          </a:xfrm>
          <a:prstGeom prst="rect">
            <a:avLst/>
          </a:prstGeom>
          <a:noFill/>
          <a:ln w="28575" cap="flat" cmpd="sng">
            <a:solidFill>
              <a:srgbClr val="38761D"/>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latin typeface="Poppins"/>
                <a:ea typeface="Poppins"/>
                <a:cs typeface="Poppins"/>
                <a:sym typeface="Poppins"/>
              </a:rPr>
              <a:t>Inclusion Drives Success in Minnesota</a:t>
            </a:r>
            <a:endParaRPr sz="1100" b="1">
              <a:solidFill>
                <a:schemeClr val="dk2"/>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endParaRPr sz="1100">
              <a:solidFill>
                <a:schemeClr val="dk2"/>
              </a:solidFill>
              <a:latin typeface="Poppins"/>
              <a:ea typeface="Poppins"/>
              <a:cs typeface="Poppins"/>
              <a:sym typeface="Poppins"/>
            </a:endParaRPr>
          </a:p>
          <a:p>
            <a:pPr marL="0" lvl="0" indent="0" algn="l" rtl="0">
              <a:spcBef>
                <a:spcPts val="0"/>
              </a:spcBef>
              <a:spcAft>
                <a:spcPts val="0"/>
              </a:spcAft>
              <a:buNone/>
            </a:pPr>
            <a:r>
              <a:rPr lang="en" sz="1100">
                <a:solidFill>
                  <a:schemeClr val="dk2"/>
                </a:solidFill>
                <a:latin typeface="Poppins"/>
                <a:ea typeface="Poppins"/>
                <a:cs typeface="Poppins"/>
                <a:sym typeface="Poppins"/>
              </a:rPr>
              <a:t>In Minnesota, voters approved (by 77%) a constitutional amendment dedicating $2.7B in state lottery funds to conservation over 25 years. Starting in 2021 and with support from DDF, CFI and partners built a diverse coalition, engaging Ojibwe Tribe members, BIPOC-led organizations, and community groups. The measure created a new $28M Community Grants Program to expand access for BIPOC and grassroots organizations.</a:t>
            </a:r>
            <a:endParaRPr sz="1800">
              <a:solidFill>
                <a:schemeClr val="dk2"/>
              </a:solidFill>
              <a:latin typeface="Poppins"/>
              <a:ea typeface="Poppins"/>
              <a:cs typeface="Poppins"/>
              <a:sym typeface="Poppins"/>
            </a:endParaRPr>
          </a:p>
        </p:txBody>
      </p:sp>
      <p:cxnSp>
        <p:nvCxnSpPr>
          <p:cNvPr id="131" name="Google Shape;131;p22"/>
          <p:cNvCxnSpPr/>
          <p:nvPr/>
        </p:nvCxnSpPr>
        <p:spPr>
          <a:xfrm rot="10800000" flipH="1">
            <a:off x="2785200" y="2246250"/>
            <a:ext cx="2547300" cy="14100"/>
          </a:xfrm>
          <a:prstGeom prst="straightConnector1">
            <a:avLst/>
          </a:prstGeom>
          <a:noFill/>
          <a:ln w="9525" cap="flat" cmpd="sng">
            <a:solidFill>
              <a:schemeClr val="dk2"/>
            </a:solidFill>
            <a:prstDash val="solid"/>
            <a:round/>
            <a:headEnd type="none" w="med" len="med"/>
            <a:tailEnd type="triangle" w="med" len="med"/>
          </a:ln>
        </p:spPr>
      </p:cxnSp>
      <p:sp>
        <p:nvSpPr>
          <p:cNvPr id="132" name="Google Shape;132;p22"/>
          <p:cNvSpPr txBox="1"/>
          <p:nvPr/>
        </p:nvSpPr>
        <p:spPr>
          <a:xfrm>
            <a:off x="5367425" y="4530000"/>
            <a:ext cx="3590100" cy="17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a:t>
            </a:r>
            <a:r>
              <a:rPr lang="en" sz="900">
                <a:solidFill>
                  <a:schemeClr val="dk1"/>
                </a:solidFill>
              </a:rPr>
              <a:t>Although it took place in 2012 outside of the scope of this study, the CFI supported a successful ballot measure in Alabama</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23"/>
          <p:cNvPicPr preferRelativeResize="0"/>
          <p:nvPr/>
        </p:nvPicPr>
        <p:blipFill>
          <a:blip r:embed="rId3">
            <a:alphaModFix/>
          </a:blip>
          <a:stretch>
            <a:fillRect/>
          </a:stretch>
        </p:blipFill>
        <p:spPr>
          <a:xfrm>
            <a:off x="235500" y="1432900"/>
            <a:ext cx="4633425" cy="3571601"/>
          </a:xfrm>
          <a:prstGeom prst="rect">
            <a:avLst/>
          </a:prstGeom>
          <a:noFill/>
          <a:ln>
            <a:noFill/>
          </a:ln>
        </p:spPr>
      </p:pic>
      <p:sp>
        <p:nvSpPr>
          <p:cNvPr id="138" name="Google Shape;138;p23"/>
          <p:cNvSpPr txBox="1"/>
          <p:nvPr/>
        </p:nvSpPr>
        <p:spPr>
          <a:xfrm>
            <a:off x="235600" y="765700"/>
            <a:ext cx="8559900" cy="692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i="1" dirty="0">
                <a:solidFill>
                  <a:schemeClr val="dk1"/>
                </a:solidFill>
              </a:rPr>
              <a:t>During the review period, a sharper focus on climate resilience has helped ally conservation with broader coalitions and has enabled wins for climate and conservation in multiple jurisdictions. Some of the largest conservation wins in recent years were allied with climate resilience, including state measures in New York, California and Washington and a measure in the City of Denver.</a:t>
            </a:r>
            <a:endParaRPr sz="1100" i="1" dirty="0"/>
          </a:p>
        </p:txBody>
      </p:sp>
      <p:sp>
        <p:nvSpPr>
          <p:cNvPr id="139" name="Google Shape;139;p23"/>
          <p:cNvSpPr txBox="1">
            <a:spLocks noGrp="1"/>
          </p:cNvSpPr>
          <p:nvPr>
            <p:ph type="title"/>
          </p:nvPr>
        </p:nvSpPr>
        <p:spPr>
          <a:xfrm>
            <a:off x="235500" y="216425"/>
            <a:ext cx="8520600" cy="572700"/>
          </a:xfrm>
          <a:prstGeom prst="rect">
            <a:avLst/>
          </a:prstGeom>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en" b="1" dirty="0">
                <a:solidFill>
                  <a:srgbClr val="38761D"/>
                </a:solidFill>
                <a:latin typeface="Poppins"/>
                <a:ea typeface="Poppins"/>
                <a:cs typeface="Poppins"/>
                <a:sym typeface="Poppins"/>
              </a:rPr>
              <a:t>Funding for Resilient and Connected Landscapes</a:t>
            </a:r>
            <a:endParaRPr b="1" dirty="0">
              <a:solidFill>
                <a:srgbClr val="38761D"/>
              </a:solidFill>
              <a:latin typeface="Poppins"/>
              <a:ea typeface="Poppins"/>
              <a:cs typeface="Poppins"/>
              <a:sym typeface="Poppins"/>
            </a:endParaRPr>
          </a:p>
        </p:txBody>
      </p:sp>
      <p:sp>
        <p:nvSpPr>
          <p:cNvPr id="140" name="Google Shape;140;p23"/>
          <p:cNvSpPr txBox="1"/>
          <p:nvPr/>
        </p:nvSpPr>
        <p:spPr>
          <a:xfrm>
            <a:off x="5559500" y="2001425"/>
            <a:ext cx="2971500" cy="2023800"/>
          </a:xfrm>
          <a:prstGeom prst="rect">
            <a:avLst/>
          </a:prstGeom>
          <a:noFill/>
          <a:ln w="28575" cap="flat" cmpd="sng">
            <a:solidFill>
              <a:srgbClr val="38761D"/>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latin typeface="Poppins"/>
                <a:ea typeface="Poppins"/>
                <a:cs typeface="Poppins"/>
                <a:sym typeface="Poppins"/>
              </a:rPr>
              <a:t>Funding Forest Health and Resilience in Chaffee County, CO (2018)</a:t>
            </a:r>
            <a:endParaRPr sz="1100" b="1">
              <a:solidFill>
                <a:schemeClr val="dk2"/>
              </a:solidFill>
              <a:latin typeface="Poppins"/>
              <a:ea typeface="Poppins"/>
              <a:cs typeface="Poppins"/>
              <a:sym typeface="Poppins"/>
            </a:endParaRPr>
          </a:p>
          <a:p>
            <a:pPr marL="0" lvl="0" indent="0" algn="l" rtl="0">
              <a:spcBef>
                <a:spcPts val="0"/>
              </a:spcBef>
              <a:spcAft>
                <a:spcPts val="0"/>
              </a:spcAft>
              <a:buNone/>
            </a:pPr>
            <a:r>
              <a:rPr lang="en" sz="1100">
                <a:solidFill>
                  <a:schemeClr val="dk2"/>
                </a:solidFill>
                <a:latin typeface="Poppins"/>
                <a:ea typeface="Poppins"/>
                <a:cs typeface="Poppins"/>
                <a:sym typeface="Poppins"/>
              </a:rPr>
              <a:t>Voters narrowly approved a ¼-cent sales tax (52%) to protect working lands, improve forest health, and steward recreation areas, generating perpetual funding. While “climate change” language didn’t resonate, wildfire risk did. With 80% public land, thinning and controlled burns became top priorities.</a:t>
            </a:r>
            <a:endParaRPr sz="1800">
              <a:solidFill>
                <a:schemeClr val="dk2"/>
              </a:solidFill>
              <a:latin typeface="Poppins"/>
              <a:ea typeface="Poppins"/>
              <a:cs typeface="Poppins"/>
              <a:sym typeface="Poppins"/>
            </a:endParaRPr>
          </a:p>
        </p:txBody>
      </p:sp>
      <p:cxnSp>
        <p:nvCxnSpPr>
          <p:cNvPr id="141" name="Google Shape;141;p23"/>
          <p:cNvCxnSpPr/>
          <p:nvPr/>
        </p:nvCxnSpPr>
        <p:spPr>
          <a:xfrm rot="10800000" flipH="1">
            <a:off x="1791475" y="2813175"/>
            <a:ext cx="3681000" cy="420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457</Words>
  <Application>Microsoft Office PowerPoint</Application>
  <PresentationFormat>On-screen Show (16:9)</PresentationFormat>
  <Paragraphs>19</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Poppins</vt:lpstr>
      <vt:lpstr>Simple Light</vt:lpstr>
      <vt:lpstr>Conservation Finance Initiative</vt:lpstr>
      <vt:lpstr>Conservation Wins Across the Political Spectrum</vt:lpstr>
      <vt:lpstr>Reaching Disadvantaged Communities</vt:lpstr>
      <vt:lpstr>Funding for Resilient and Connected Landscapes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Wendy Muzzy</dc:creator>
  <cp:lastModifiedBy>Wendy Muzzy</cp:lastModifiedBy>
  <cp:revision>1</cp:revision>
  <dcterms:modified xsi:type="dcterms:W3CDTF">2025-11-21T19:39:29Z</dcterms:modified>
</cp:coreProperties>
</file>